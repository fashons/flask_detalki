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28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25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50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30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64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8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12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93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242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6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617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3395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658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148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45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25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93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05040-5622-4221-A14C-1D20BF24AE7E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02A48-E32A-44F7-BCB6-669405498B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945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057F4-10CD-1139-5016-06EC1FCD5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" y="2733709"/>
            <a:ext cx="8656816" cy="1373070"/>
          </a:xfrm>
        </p:spPr>
        <p:txBody>
          <a:bodyPr anchor="ctr"/>
          <a:lstStyle/>
          <a:p>
            <a:pPr algn="ctr"/>
            <a:r>
              <a:rPr lang="ru-RU" sz="4800" dirty="0"/>
              <a:t>Система Учёт </a:t>
            </a:r>
            <a:r>
              <a:rPr lang="ru-RU" sz="4800" dirty="0" err="1"/>
              <a:t>комп.техники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EA79DC-CE41-BA28-D888-F13B21F6C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7424" y="2578608"/>
            <a:ext cx="3084576" cy="1682496"/>
          </a:xfrm>
        </p:spPr>
        <p:txBody>
          <a:bodyPr anchor="ctr">
            <a:norm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</a:rPr>
              <a:t>Артём Аверьянов В.</a:t>
            </a:r>
            <a:endParaRPr lang="en-US" sz="2400" dirty="0">
              <a:solidFill>
                <a:srgbClr val="002060"/>
              </a:solidFill>
            </a:endParaRP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1121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048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B7F07-F357-FA9D-8E66-33AC814C2A64}"/>
              </a:ext>
            </a:extLst>
          </p:cNvPr>
          <p:cNvSpPr txBox="1"/>
          <p:nvPr/>
        </p:nvSpPr>
        <p:spPr>
          <a:xfrm>
            <a:off x="2289048" y="199382"/>
            <a:ext cx="7613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 и задача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текст, снимок экрана, программное обеспечение, Значок на компьютере">
            <a:extLst>
              <a:ext uri="{FF2B5EF4-FFF2-40B4-BE49-F238E27FC236}">
                <a16:creationId xmlns:a16="http://schemas.microsoft.com/office/drawing/2014/main" id="{AB1502DE-5C01-2840-62A1-EEC5D2928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9" r="17249"/>
          <a:stretch>
            <a:fillRect/>
          </a:stretch>
        </p:blipFill>
        <p:spPr>
          <a:xfrm>
            <a:off x="6673936" y="1928668"/>
            <a:ext cx="5104298" cy="38638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5D2658-8B25-133B-F8E5-508A286E7F9C}"/>
              </a:ext>
            </a:extLst>
          </p:cNvPr>
          <p:cNvSpPr txBox="1"/>
          <p:nvPr/>
        </p:nvSpPr>
        <p:spPr>
          <a:xfrm>
            <a:off x="413766" y="223042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Неэффективный учет компьютерного оборудования в организациях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4A941-BF55-A231-9575-A201E2CA3DD5}"/>
              </a:ext>
            </a:extLst>
          </p:cNvPr>
          <p:cNvSpPr txBox="1"/>
          <p:nvPr/>
        </p:nvSpPr>
        <p:spPr>
          <a:xfrm>
            <a:off x="413766" y="287675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 Создание системы для централизованного учета компьютерной техники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2FE7D-B4E0-FE62-492F-A3E90FCA3D0A}"/>
              </a:ext>
            </a:extLst>
          </p:cNvPr>
          <p:cNvSpPr txBox="1"/>
          <p:nvPr/>
        </p:nvSpPr>
        <p:spPr>
          <a:xfrm>
            <a:off x="413766" y="3523082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Цели системы: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Учет инвентарных номеров оборудования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Отслеживание местоположения и статуса техники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назначением оборудования сотрудникам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сроков эксплуатации и истории использования</a:t>
            </a:r>
            <a:r>
              <a:rPr lang="en-US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15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8D15-D684-523C-0289-4A0A98BC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12D-68A1-F76F-A043-C2BC07E4FCE7}"/>
              </a:ext>
            </a:extLst>
          </p:cNvPr>
          <p:cNvSpPr txBox="1"/>
          <p:nvPr/>
        </p:nvSpPr>
        <p:spPr>
          <a:xfrm>
            <a:off x="2453640" y="199382"/>
            <a:ext cx="728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разработанной ИС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FE4BB-A04E-29F2-6300-41DFEB405A8E}"/>
              </a:ext>
            </a:extLst>
          </p:cNvPr>
          <p:cNvSpPr txBox="1"/>
          <p:nvPr/>
        </p:nvSpPr>
        <p:spPr>
          <a:xfrm>
            <a:off x="1866900" y="2140125"/>
            <a:ext cx="845820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 и авторизация: Регистрация и вход пользователей с разными ролями (администратор, менеджер, пользователь)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Учет оборудования: CRUD-операции для компьютерного оборудования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и поиск: Гибкие фильтры по типам, статусам и местоположению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Статистика: Визуализация данных по состоянию оборудования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данных: Проверка вводимых данных и обработка ошибок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Безопасность: Хэширование паролей и защита от несанкционированного доступа</a:t>
            </a:r>
          </a:p>
        </p:txBody>
      </p:sp>
    </p:spTree>
    <p:extLst>
      <p:ext uri="{BB962C8B-B14F-4D97-AF65-F5344CB8AC3E}">
        <p14:creationId xmlns:p14="http://schemas.microsoft.com/office/powerpoint/2010/main" val="50595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DD62D-A097-4B95-C083-D77BB2C4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3F4A0E-D1FA-AA01-9A6A-E74D4CAAB5A6}"/>
              </a:ext>
            </a:extLst>
          </p:cNvPr>
          <p:cNvSpPr txBox="1"/>
          <p:nvPr/>
        </p:nvSpPr>
        <p:spPr>
          <a:xfrm>
            <a:off x="2453640" y="199382"/>
            <a:ext cx="728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базы данных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10D2FD-A5A7-20AA-E848-D44A3BDF2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504" y="1401673"/>
            <a:ext cx="4888992" cy="504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9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1385-3BE6-D2B0-14AD-6BC84383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A5B2A-C853-D9A3-3B7D-DB02B95646D5}"/>
              </a:ext>
            </a:extLst>
          </p:cNvPr>
          <p:cNvSpPr txBox="1"/>
          <p:nvPr/>
        </p:nvSpPr>
        <p:spPr>
          <a:xfrm>
            <a:off x="2453640" y="199382"/>
            <a:ext cx="728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4DD79-E079-95B1-BA61-77EEAEDBD8AB}"/>
              </a:ext>
            </a:extLst>
          </p:cNvPr>
          <p:cNvSpPr txBox="1"/>
          <p:nvPr/>
        </p:nvSpPr>
        <p:spPr>
          <a:xfrm>
            <a:off x="1203960" y="1724627"/>
            <a:ext cx="640384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(Модели):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 - класс для работы с оборудованием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EquipmentRepo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репозиторий для бизнес-логики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- класс для работы с пользователями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репозиторий для управления пользователями</a:t>
            </a:r>
          </a:p>
          <a:p>
            <a:pPr algn="just"/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(Представления):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HTML-шаблоны для страниц оборудования, пользователей, аутентификации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CSS-стили для визуального оформления интерфейса</a:t>
            </a:r>
          </a:p>
          <a:p>
            <a:pPr algn="just"/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(Контроллеры):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equipment_controller.py - обработка запросов по оборудованию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users_controller.py - управление пользователями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auth_controller.py - аутентификация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main_controller.py - главная страница приложения</a:t>
            </a:r>
          </a:p>
        </p:txBody>
      </p:sp>
      <p:pic>
        <p:nvPicPr>
          <p:cNvPr id="9" name="Рисунок 8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3309D8-E7BA-48F7-6F3B-037036CFF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373" y="1724627"/>
            <a:ext cx="2170619" cy="424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4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ED70-2FEA-61BB-3039-392FE6B81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D50BE-3E65-1131-1E69-DAA0E62722B5}"/>
              </a:ext>
            </a:extLst>
          </p:cNvPr>
          <p:cNvSpPr txBox="1"/>
          <p:nvPr/>
        </p:nvSpPr>
        <p:spPr>
          <a:xfrm>
            <a:off x="2453640" y="199382"/>
            <a:ext cx="728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стек и технологии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C5642-9400-A681-B004-1DA68EC81E51}"/>
              </a:ext>
            </a:extLst>
          </p:cNvPr>
          <p:cNvSpPr txBox="1"/>
          <p:nvPr/>
        </p:nvSpPr>
        <p:spPr>
          <a:xfrm>
            <a:off x="1506855" y="1904089"/>
            <a:ext cx="55854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3.13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Framework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Flask-Login 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управления сессиями</a:t>
            </a:r>
          </a:p>
          <a:p>
            <a:pPr algn="just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HTML5, CSS3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 Awesome 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иконок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верстка для мобильных устройств</a:t>
            </a:r>
          </a:p>
          <a:p>
            <a:pPr algn="just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Виртуальное окружение (.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 descr="Изображение выглядит как графическая вставка, символ, Графи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30E57D-B5F8-BC96-D824-55AEB8D65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139" y="1309519"/>
            <a:ext cx="2328672" cy="2319824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рисунок, зарисовка, графическая вставка, текст">
            <a:extLst>
              <a:ext uri="{FF2B5EF4-FFF2-40B4-BE49-F238E27FC236}">
                <a16:creationId xmlns:a16="http://schemas.microsoft.com/office/drawing/2014/main" id="{A5BA5FF0-7BEB-D3D2-3A25-B1C8B8B47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4219" y1="34537" x2="50260" y2="53704"/>
                        <a14:foregroundMark x1="50260" y1="53704" x2="53125" y2="56019"/>
                        <a14:foregroundMark x1="41042" y1="65093" x2="41042" y2="65093"/>
                        <a14:foregroundMark x1="45938" y1="66944" x2="45938" y2="66944"/>
                        <a14:foregroundMark x1="49896" y1="68148" x2="49896" y2="68148"/>
                        <a14:foregroundMark x1="52604" y1="69074" x2="52604" y2="69074"/>
                        <a14:foregroundMark x1="56458" y1="68796" x2="56458" y2="68796"/>
                        <a14:backgroundMark x1="49375" y1="71204" x2="49375" y2="712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178" t="20031" r="38178" b="20031"/>
          <a:stretch>
            <a:fillRect/>
          </a:stretch>
        </p:blipFill>
        <p:spPr>
          <a:xfrm>
            <a:off x="8345424" y="3772218"/>
            <a:ext cx="2074444" cy="295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01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76EBE-1054-491D-1E9E-AE9D614A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0760C-9144-A6E2-8363-A5A4E77A2A36}"/>
              </a:ext>
            </a:extLst>
          </p:cNvPr>
          <p:cNvSpPr txBox="1"/>
          <p:nvPr/>
        </p:nvSpPr>
        <p:spPr>
          <a:xfrm>
            <a:off x="2453640" y="199382"/>
            <a:ext cx="728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Скриншоты интерфейса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73D29-5343-8A10-ECB3-32794111A5A1}"/>
              </a:ext>
            </a:extLst>
          </p:cNvPr>
          <p:cNvSpPr txBox="1"/>
          <p:nvPr/>
        </p:nvSpPr>
        <p:spPr>
          <a:xfrm>
            <a:off x="419099" y="1477150"/>
            <a:ext cx="37338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меню: Страница с описанием системы, статистикой и возможностями</a:t>
            </a:r>
          </a:p>
          <a:p>
            <a:pPr indent="4500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оборудования: Формы добавления/редактирования и таблица со списком оборудования</a:t>
            </a:r>
          </a:p>
          <a:p>
            <a:pPr indent="4500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пользователей: Управление пользователями и ролями (только для администраторов)</a:t>
            </a:r>
          </a:p>
          <a:p>
            <a:pPr indent="4500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аутентификации: Современные формы входа и регистрации</a:t>
            </a:r>
          </a:p>
        </p:txBody>
      </p:sp>
      <p:pic>
        <p:nvPicPr>
          <p:cNvPr id="8" name="Рисунок 7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89DF7D-4A31-FFE0-B573-0D8598FC0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9" r="17969"/>
          <a:stretch>
            <a:fillRect/>
          </a:stretch>
        </p:blipFill>
        <p:spPr>
          <a:xfrm>
            <a:off x="4271265" y="1083852"/>
            <a:ext cx="3714052" cy="2874617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D6E1C2-29CC-5C41-F94C-437756767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683" y="1083852"/>
            <a:ext cx="3808458" cy="2857902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2E78AE-DA0C-CFF9-884E-358EE72FD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264" y="4000098"/>
            <a:ext cx="3714053" cy="2857902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B4D410-F3F3-BDE5-E750-7AA81A5CE7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655" y="3958469"/>
            <a:ext cx="1824513" cy="286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3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C745-E59E-3DE1-5A11-16DA556E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9BF9CD-DE0C-FC12-9E8D-7424AE40A01E}"/>
              </a:ext>
            </a:extLst>
          </p:cNvPr>
          <p:cNvSpPr txBox="1"/>
          <p:nvPr/>
        </p:nvSpPr>
        <p:spPr>
          <a:xfrm>
            <a:off x="2453640" y="199382"/>
            <a:ext cx="728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</a:t>
            </a:r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CRUD-</a:t>
            </a:r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функций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ACFA0-6CF5-FE66-2622-9C2A66DAEBB0}"/>
              </a:ext>
            </a:extLst>
          </p:cNvPr>
          <p:cNvSpPr txBox="1"/>
          <p:nvPr/>
        </p:nvSpPr>
        <p:spPr>
          <a:xfrm>
            <a:off x="419100" y="1215653"/>
            <a:ext cx="56769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CREATE: Добавление нового оборудования через форму с валидацией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READ: Отображение списка оборудования с возможностью фильтрации и постраничной навигации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UPDATE: Редактирование существующего оборудования с сохранением истории изменений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DELETE: Удаление оборудования с подтверждением и ограничением для определенных ролей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ошибок: Проверка уникальности инвентарных номеров, откат транзакций при ошибках</a:t>
            </a:r>
          </a:p>
        </p:txBody>
      </p:sp>
      <p:pic>
        <p:nvPicPr>
          <p:cNvPr id="10" name="Рисунок 9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55BDF2-D437-768A-1B4E-1F016FF0A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370" y="1382676"/>
            <a:ext cx="5483530" cy="230441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079A04-EF8D-1CC5-9660-CD8B66ED2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123" y="3937135"/>
            <a:ext cx="5505777" cy="245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10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B412A-B8DA-2C01-D646-89297E43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F9E1E0-AA6D-3A69-0E86-CFBEB5AEA0A1}"/>
              </a:ext>
            </a:extLst>
          </p:cNvPr>
          <p:cNvSpPr txBox="1"/>
          <p:nvPr/>
        </p:nvSpPr>
        <p:spPr>
          <a:xfrm>
            <a:off x="2453640" y="199382"/>
            <a:ext cx="728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 и разграничение прав доступа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74FB8-30A0-026E-8535-F3E09298385C}"/>
              </a:ext>
            </a:extLst>
          </p:cNvPr>
          <p:cNvSpPr txBox="1"/>
          <p:nvPr/>
        </p:nvSpPr>
        <p:spPr>
          <a:xfrm>
            <a:off x="1133475" y="1849815"/>
            <a:ext cx="645825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Хэширование паролей: Использование </a:t>
            </a:r>
            <a:r>
              <a:rPr lang="ru-RU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Werkzeug.security</a:t>
            </a: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безопасного хранения паролей</a:t>
            </a:r>
          </a:p>
          <a:p>
            <a:pPr algn="just"/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уровня доступа: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Полный доступ ко всем функциям системы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Manager: Может добавлять/редактировать оборудование, но не удалять пользователей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User: Только просмотр списка оборудования</a:t>
            </a:r>
          </a:p>
          <a:p>
            <a:pPr algn="just"/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маршрутов: Декоратор @login_required для всех защищенных страниц</a:t>
            </a:r>
          </a:p>
          <a:p>
            <a:pPr algn="just"/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сессиями: </a:t>
            </a:r>
            <a:r>
              <a:rPr lang="ru-RU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Flask-Login</a:t>
            </a:r>
            <a:r>
              <a:rPr lang="ru-RU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управления текущей сессией пользователя</a:t>
            </a:r>
          </a:p>
        </p:txBody>
      </p:sp>
      <p:pic>
        <p:nvPicPr>
          <p:cNvPr id="9" name="Рисунок 8" descr="Изображение выглядит как логотип, символ, Графика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794928-2B99-3721-B6F4-26D76F15A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7656" l="2930" r="89844">
                        <a14:foregroundMark x1="46680" y1="34180" x2="46680" y2="34180"/>
                        <a14:foregroundMark x1="38086" y1="27344" x2="38086" y2="27344"/>
                        <a14:foregroundMark x1="34375" y1="26953" x2="34375" y2="26953"/>
                        <a14:foregroundMark x1="31250" y1="27344" x2="15625" y2="30859"/>
                        <a14:foregroundMark x1="35938" y1="26758" x2="49023" y2="31445"/>
                        <a14:foregroundMark x1="45703" y1="30469" x2="31641" y2="27148"/>
                        <a14:foregroundMark x1="31641" y1="27148" x2="6250" y2="35547"/>
                        <a14:foregroundMark x1="6250" y1="35547" x2="4102" y2="41992"/>
                        <a14:foregroundMark x1="4297" y1="38867" x2="4492" y2="64063"/>
                        <a14:foregroundMark x1="5664" y1="36719" x2="2930" y2="39648"/>
                        <a14:foregroundMark x1="12109" y1="40625" x2="33203" y2="45313"/>
                        <a14:foregroundMark x1="33203" y1="45313" x2="38281" y2="81055"/>
                        <a14:foregroundMark x1="38281" y1="81055" x2="49609" y2="83789"/>
                        <a14:foregroundMark x1="41406" y1="92383" x2="31250" y2="91406"/>
                        <a14:foregroundMark x1="31250" y1="91406" x2="27148" y2="75977"/>
                        <a14:foregroundMark x1="27148" y1="75977" x2="16602" y2="85156"/>
                        <a14:foregroundMark x1="16602" y1="85156" x2="14453" y2="72852"/>
                        <a14:foregroundMark x1="14453" y1="72852" x2="22266" y2="49805"/>
                        <a14:foregroundMark x1="22266" y1="49805" x2="41602" y2="44141"/>
                        <a14:foregroundMark x1="41602" y1="44141" x2="38086" y2="66406"/>
                        <a14:foregroundMark x1="38086" y1="66406" x2="48828" y2="78516"/>
                        <a14:foregroundMark x1="48828" y1="78516" x2="45313" y2="76172"/>
                        <a14:foregroundMark x1="48242" y1="52344" x2="29883" y2="67383"/>
                        <a14:foregroundMark x1="29883" y1="67383" x2="24805" y2="59375"/>
                        <a14:foregroundMark x1="48047" y1="85547" x2="55078" y2="78125"/>
                        <a14:foregroundMark x1="55078" y1="78125" x2="62109" y2="52734"/>
                        <a14:foregroundMark x1="62109" y1="52734" x2="56641" y2="39648"/>
                        <a14:foregroundMark x1="56641" y1="39648" x2="41797" y2="35156"/>
                        <a14:foregroundMark x1="41797" y1="35156" x2="21875" y2="36523"/>
                        <a14:foregroundMark x1="21875" y1="36523" x2="9570" y2="53125"/>
                        <a14:foregroundMark x1="9570" y1="53125" x2="13477" y2="74805"/>
                        <a14:foregroundMark x1="13477" y1="74805" x2="16016" y2="79492"/>
                        <a14:foregroundMark x1="48242" y1="36328" x2="48242" y2="38672"/>
                        <a14:foregroundMark x1="41797" y1="36914" x2="51563" y2="40820"/>
                        <a14:foregroundMark x1="51563" y1="40820" x2="61523" y2="50391"/>
                        <a14:foregroundMark x1="61523" y1="50391" x2="50391" y2="76953"/>
                        <a14:foregroundMark x1="50391" y1="76953" x2="41797" y2="86914"/>
                        <a14:foregroundMark x1="41797" y1="86914" x2="27539" y2="86914"/>
                        <a14:foregroundMark x1="27539" y1="86914" x2="11914" y2="61719"/>
                        <a14:foregroundMark x1="65820" y1="49609" x2="63477" y2="73242"/>
                        <a14:foregroundMark x1="63477" y1="73242" x2="43945" y2="94727"/>
                        <a14:foregroundMark x1="43945" y1="94727" x2="32422" y2="97070"/>
                        <a14:foregroundMark x1="32422" y1="97070" x2="23828" y2="91797"/>
                        <a14:foregroundMark x1="23828" y1="91797" x2="7422" y2="70508"/>
                        <a14:foregroundMark x1="7422" y1="70508" x2="5469" y2="47070"/>
                        <a14:foregroundMark x1="5469" y1="47070" x2="12305" y2="32617"/>
                        <a14:foregroundMark x1="12305" y1="32617" x2="38477" y2="26172"/>
                        <a14:foregroundMark x1="38477" y1="26172" x2="62891" y2="33984"/>
                        <a14:foregroundMark x1="62891" y1="33984" x2="66016" y2="38672"/>
                        <a14:foregroundMark x1="64844" y1="37500" x2="64648" y2="65039"/>
                        <a14:foregroundMark x1="67188" y1="46680" x2="66406" y2="67969"/>
                        <a14:foregroundMark x1="66406" y1="67969" x2="62500" y2="77344"/>
                        <a14:foregroundMark x1="66992" y1="45117" x2="66602" y2="62500"/>
                        <a14:foregroundMark x1="66602" y1="62500" x2="64063" y2="69727"/>
                        <a14:foregroundMark x1="61328" y1="77148" x2="59375" y2="81641"/>
                        <a14:foregroundMark x1="57813" y1="81641" x2="58789" y2="81836"/>
                        <a14:foregroundMark x1="55469" y1="84961" x2="46875" y2="93164"/>
                        <a14:foregroundMark x1="46875" y1="93164" x2="36719" y2="97656"/>
                        <a14:foregroundMark x1="36719" y1="97656" x2="16211" y2="90625"/>
                        <a14:foregroundMark x1="16211" y1="90625" x2="8008" y2="79102"/>
                        <a14:foregroundMark x1="8008" y1="79102" x2="3906" y2="66016"/>
                        <a14:foregroundMark x1="3906" y1="66016" x2="5273" y2="61914"/>
                        <a14:foregroundMark x1="51172" y1="83789" x2="46875" y2="93359"/>
                        <a14:foregroundMark x1="46875" y1="93359" x2="46484" y2="92773"/>
                        <a14:foregroundMark x1="53906" y1="89648" x2="46094" y2="94531"/>
                        <a14:foregroundMark x1="36328" y1="25586" x2="8203" y2="33203"/>
                        <a14:foregroundMark x1="8203" y1="33203" x2="7031" y2="39063"/>
                        <a14:foregroundMark x1="34961" y1="25781" x2="33789" y2="25586"/>
                        <a14:foregroundMark x1="36328" y1="23828" x2="34570" y2="24023"/>
                        <a14:foregroundMark x1="32617" y1="24414" x2="32031" y2="25195"/>
                        <a14:foregroundMark x1="32617" y1="25391" x2="34961" y2="25000"/>
                        <a14:foregroundMark x1="33984" y1="25000" x2="28320" y2="26367"/>
                        <a14:foregroundMark x1="27734" y1="26563" x2="27148" y2="26758"/>
                        <a14:foregroundMark x1="26563" y1="27734" x2="26563" y2="27734"/>
                        <a14:foregroundMark x1="24414" y1="28320" x2="20898" y2="29102"/>
                        <a14:foregroundMark x1="17773" y1="30078" x2="13086" y2="31836"/>
                        <a14:foregroundMark x1="10938" y1="33008" x2="7617" y2="34180"/>
                        <a14:foregroundMark x1="4492" y1="35547" x2="4492" y2="35547"/>
                        <a14:foregroundMark x1="3125" y1="36328" x2="3125" y2="36328"/>
                        <a14:foregroundMark x1="2930" y1="36523" x2="2930" y2="36523"/>
                        <a14:foregroundMark x1="39063" y1="24609" x2="39258" y2="25781"/>
                        <a14:foregroundMark x1="40820" y1="27148" x2="40820" y2="27148"/>
                        <a14:foregroundMark x1="41406" y1="26758" x2="41406" y2="26758"/>
                        <a14:foregroundMark x1="43555" y1="27148" x2="44727" y2="27734"/>
                        <a14:foregroundMark x1="24219" y1="27148" x2="24219" y2="27148"/>
                        <a14:foregroundMark x1="25977" y1="28711" x2="25977" y2="28711"/>
                        <a14:foregroundMark x1="58594" y1="83398" x2="58594" y2="83398"/>
                        <a14:foregroundMark x1="58398" y1="82813" x2="58398" y2="82813"/>
                        <a14:foregroundMark x1="58203" y1="83008" x2="58203" y2="830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699" r="29490"/>
          <a:stretch>
            <a:fillRect/>
          </a:stretch>
        </p:blipFill>
        <p:spPr>
          <a:xfrm>
            <a:off x="8260486" y="2286000"/>
            <a:ext cx="2955748" cy="332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5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ED8A6-B2E5-A582-3391-F42DB71A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952A44-DC7A-B0FD-E9FF-9BB021908A70}"/>
              </a:ext>
            </a:extLst>
          </p:cNvPr>
          <p:cNvSpPr txBox="1"/>
          <p:nvPr/>
        </p:nvSpPr>
        <p:spPr>
          <a:xfrm>
            <a:off x="2453640" y="199382"/>
            <a:ext cx="728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Подходы к фильтрации и учету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E3CE5-9009-CEB1-90EF-5F5DAC122E82}"/>
              </a:ext>
            </a:extLst>
          </p:cNvPr>
          <p:cNvSpPr txBox="1"/>
          <p:nvPr/>
        </p:nvSpPr>
        <p:spPr>
          <a:xfrm>
            <a:off x="328262" y="1625435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Статусы оборудования: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Свободно (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использовании (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in_use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ремонте (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in_repair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Списано (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retired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типу оборудования (компьютер, ноутбук, монитор и т.д.)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статусу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местоположению (офисы, склады)</a:t>
            </a:r>
          </a:p>
          <a:p>
            <a:pPr algn="just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оборудования по типам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по статусам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с помощью карточек и диаграмм</a:t>
            </a:r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F95AB8-726C-BF08-9D50-5E64D214A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326" y="1481162"/>
            <a:ext cx="6096000" cy="169518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44E9CF-A2AC-5164-BFCC-0C6D19D19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53" y="4149376"/>
            <a:ext cx="6289173" cy="137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84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C5326-BC5D-823B-2E76-F039C834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6016C-1FA1-6708-5F2B-1726D62E679E}"/>
              </a:ext>
            </a:extLst>
          </p:cNvPr>
          <p:cNvSpPr txBox="1"/>
          <p:nvPr/>
        </p:nvSpPr>
        <p:spPr>
          <a:xfrm>
            <a:off x="2453640" y="199382"/>
            <a:ext cx="728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системы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F87D6-847E-91D7-B9D2-356C2F68B3D5}"/>
              </a:ext>
            </a:extLst>
          </p:cNvPr>
          <p:cNvSpPr txBox="1"/>
          <p:nvPr/>
        </p:nvSpPr>
        <p:spPr>
          <a:xfrm>
            <a:off x="1987296" y="1560011"/>
            <a:ext cx="8217408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-тесты: Покрытие основного функционала приложения</a:t>
            </a:r>
          </a:p>
          <a:p>
            <a:pPr indent="450000" algn="just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Тестовые сценарии: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CRUD-операции для оборудования и пользователей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 при вводе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доступа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данных</a:t>
            </a:r>
          </a:p>
          <a:p>
            <a:pPr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Хэширование паролей</a:t>
            </a:r>
          </a:p>
          <a:p>
            <a:pPr indent="450000" algn="just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Тестовая база данных: Использование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in-memory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базы для тестирования</a:t>
            </a:r>
          </a:p>
          <a:p>
            <a:pPr indent="450000" algn="just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Высокий процент покрытия тестами критически важного кода</a:t>
            </a:r>
          </a:p>
        </p:txBody>
      </p:sp>
    </p:spTree>
    <p:extLst>
      <p:ext uri="{BB962C8B-B14F-4D97-AF65-F5344CB8AC3E}">
        <p14:creationId xmlns:p14="http://schemas.microsoft.com/office/powerpoint/2010/main" val="1742536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4DFF1-72F6-E1D2-4E0C-2B72C957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B46F5B-E053-4AD8-B622-BBC9485DE0C7}"/>
              </a:ext>
            </a:extLst>
          </p:cNvPr>
          <p:cNvSpPr txBox="1"/>
          <p:nvPr/>
        </p:nvSpPr>
        <p:spPr>
          <a:xfrm>
            <a:off x="2453640" y="199382"/>
            <a:ext cx="728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системы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 descr="Изображение выглядит как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B80841-1FB2-7607-7258-F0F625E69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94"/>
          <a:stretch>
            <a:fillRect/>
          </a:stretch>
        </p:blipFill>
        <p:spPr>
          <a:xfrm>
            <a:off x="209678" y="2341835"/>
            <a:ext cx="11772644" cy="293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04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5C77-BA57-BF47-1643-654D63EB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825C6D-310B-28FB-0EA3-5731BE0299F5}"/>
              </a:ext>
            </a:extLst>
          </p:cNvPr>
          <p:cNvSpPr txBox="1"/>
          <p:nvPr/>
        </p:nvSpPr>
        <p:spPr>
          <a:xfrm>
            <a:off x="2453640" y="199382"/>
            <a:ext cx="728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репозитория и этапы разработки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789F8-46B7-9C0C-4605-7C421B7E9826}"/>
              </a:ext>
            </a:extLst>
          </p:cNvPr>
          <p:cNvSpPr txBox="1"/>
          <p:nvPr/>
        </p:nvSpPr>
        <p:spPr>
          <a:xfrm>
            <a:off x="3048762" y="1957245"/>
            <a:ext cx="6094476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проекта: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- контроллеры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- модели данных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templates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- HTML-шаблоны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- статические файлы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app/test_app.py - тесты</a:t>
            </a:r>
          </a:p>
          <a:p>
            <a:pPr algn="just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разработки: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и БД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базового функционала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аутентификации и прав доступа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валидации и обработки ошибок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тестов и исправление багов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интерфейса и адаптация под тему</a:t>
            </a:r>
          </a:p>
        </p:txBody>
      </p:sp>
    </p:spTree>
    <p:extLst>
      <p:ext uri="{BB962C8B-B14F-4D97-AF65-F5344CB8AC3E}">
        <p14:creationId xmlns:p14="http://schemas.microsoft.com/office/powerpoint/2010/main" val="303408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4D970-D3C0-9369-AE75-722BEEC5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16A258-66A9-62D0-248E-0D8F2CECC04C}"/>
              </a:ext>
            </a:extLst>
          </p:cNvPr>
          <p:cNvSpPr txBox="1"/>
          <p:nvPr/>
        </p:nvSpPr>
        <p:spPr>
          <a:xfrm>
            <a:off x="2453640" y="199382"/>
            <a:ext cx="728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Рефлексия разработчика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5A73A-F08F-73FD-FE80-02AE87C6C3D2}"/>
              </a:ext>
            </a:extLst>
          </p:cNvPr>
          <p:cNvSpPr txBox="1"/>
          <p:nvPr/>
        </p:nvSpPr>
        <p:spPr>
          <a:xfrm>
            <a:off x="256032" y="1851535"/>
            <a:ext cx="5839968" cy="419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Почему тема учета компьютерной техники? Практичная задача для реальных организаций</a:t>
            </a:r>
          </a:p>
          <a:p>
            <a:pPr indent="450000" algn="just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Самые сложные аспекты MVC: Разделение бизнес-логики и представления</a:t>
            </a:r>
          </a:p>
          <a:p>
            <a:pPr indent="450000" algn="just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Ограничения системы: Отсутствие API для интеграции с другими системами</a:t>
            </a:r>
          </a:p>
          <a:p>
            <a:pPr indent="450000" algn="just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Важные уроки:</a:t>
            </a:r>
          </a:p>
          <a:p>
            <a:pPr marL="285750"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тестирования</a:t>
            </a:r>
          </a:p>
          <a:p>
            <a:pPr marL="285750"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проектирования до написания кода</a:t>
            </a:r>
          </a:p>
          <a:p>
            <a:pPr marL="285750" indent="45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чистого и поддерживаемого кода</a:t>
            </a:r>
          </a:p>
        </p:txBody>
      </p:sp>
      <p:pic>
        <p:nvPicPr>
          <p:cNvPr id="9" name="Рисунок 8" descr="Изображение выглядит как графическая вставка, символ, Графи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F0F3BE-D4AA-57CB-7DD0-7490985B8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656" y="2188205"/>
            <a:ext cx="3536568" cy="352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27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5B23-3E79-F977-ADDA-E76AC7343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AD07EA-D0D7-244F-0815-6D8A73F84569}"/>
              </a:ext>
            </a:extLst>
          </p:cNvPr>
          <p:cNvSpPr txBox="1"/>
          <p:nvPr/>
        </p:nvSpPr>
        <p:spPr>
          <a:xfrm>
            <a:off x="2453640" y="199382"/>
            <a:ext cx="728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и направления развития</a:t>
            </a:r>
            <a:endParaRPr lang="ru-RU" sz="4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926B0-4A3E-F793-56EE-855F1ED1C63E}"/>
              </a:ext>
            </a:extLst>
          </p:cNvPr>
          <p:cNvSpPr txBox="1"/>
          <p:nvPr/>
        </p:nvSpPr>
        <p:spPr>
          <a:xfrm>
            <a:off x="2324100" y="2230422"/>
            <a:ext cx="7543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Итоги: Создана полнофункциональная система учета оборудования</a:t>
            </a:r>
          </a:p>
          <a:p>
            <a:pPr indent="450000" algn="just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Достижения:</a:t>
            </a:r>
          </a:p>
          <a:p>
            <a:pPr marL="285750" indent="4500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 требованиям MVC</a:t>
            </a:r>
          </a:p>
          <a:p>
            <a:pPr marL="285750" indent="4500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24+ проходящих теста</a:t>
            </a:r>
          </a:p>
          <a:p>
            <a:pPr marL="285750" indent="4500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Понятный и удобный интерфейс</a:t>
            </a:r>
          </a:p>
          <a:p>
            <a:pPr marL="285750" indent="4500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система прав доступа</a:t>
            </a:r>
          </a:p>
          <a:p>
            <a:pPr indent="450000" algn="just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Планы развития: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API для мобильного приложения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данных в Excel/PDF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изменений для оборудования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 износа оборудования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Мобильная версия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830424372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77</TotalTime>
  <Words>728</Words>
  <Application>Microsoft Office PowerPoint</Application>
  <PresentationFormat>Широкоэкранный</PresentationFormat>
  <Paragraphs>127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Trebuchet MS</vt:lpstr>
      <vt:lpstr>Берлин</vt:lpstr>
      <vt:lpstr>Система Учёт комп.техники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Averyanov</dc:creator>
  <cp:lastModifiedBy>Artem Averyanov</cp:lastModifiedBy>
  <cp:revision>102</cp:revision>
  <dcterms:created xsi:type="dcterms:W3CDTF">2025-12-24T05:07:00Z</dcterms:created>
  <dcterms:modified xsi:type="dcterms:W3CDTF">2025-12-24T06:25:23Z</dcterms:modified>
</cp:coreProperties>
</file>